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【封面 · 20 秒】
我讲的项目是 IPMaster-Cowork 的后端服务，一个 Agent Runtime。
代码在 app 目录下，150 个模块，一万六千九百多行 Python，27 组测试。
今天不讲产品功能，讲这套代码是怎么组织的。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【01 · 60 秒】
现在做 Agent 系统主要是两种写法。
第一种是 Workflow 型，节点和连边在开发期定义好。问题是，新增一条分支就要改图、改代码、重新发布；节点粒度也是固定的，运行期不能再拆分或者增派执行者；异常路径还得事先穷举，组合数随节点数往上涨。
第二种是 ReAct 单循环，thought、action、observation 累积在一条消息链上。它灵活，但没有 task 对象——依赖关系、执行进度、单独重试，这些都无从表达；消息链单调增长，长流程必然顶到上下文上限；失败了整段重来，任务做没做完是模型自己在正文里说的，工具白名单也是全局一套。
我们的做法是两边各取一半。
[指下方卡片]
执行部分沿用 ReAct 循环：AgentLoop 每轮 reason、act、observe，下一步调什么工具由模型在执行中决定，计划可以中途补拆，不需要预先把流程画完。
约束部分靠 task 对象和复核：每一步落成 task，带 status、dag_deps 和 agent 归属；Observer 每轮提交评估，判完成的 task 还能回退到 PENDING 重做，失败按 failure_counter 计数重试。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【02 · 25 秒】
这是代码的实际分布。
runtime 最重，3087 行，是执行层；然后是 tools 2198 行、llm 1841 行、domain 1818 行。调度层 orchestrator 1806 行，比执行层轻——因为调度只做决策，不做具体的事。
右边是目录结构，目录名基本就是能力名。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【03 · 45 秒】
四层，依赖自上而下，跨模块通知走 EventBus。
API 层，路由按资源划分，只做协议转换和参数校验，执行过程通过 SSE 推给前端。Service 实例集中在 deps.py 里用 lru_cache 装配成单例，再注入路由。
Orchestrator 层三个管理者：SessionManager 建会话和 root agent 并启动执行线程，TaskManager 订阅任务事件、维护队列、决定下一个跑谁，LifecycleManager 维护 agent 树，复用或者新建执行体。
Runtime 层是 AgentLoop，按 Reasoner、Actor、Observer 三段执行单个 task，工具调用收口到 ToolGateway，权限过 PolicyEngine。
这里有一条我想强调：runtime 目录下没有任何一个 provider 的 import。换模型、加 MCP server，执行链路一行都不用改。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【04 · 40 秒】
复杂度是按状态归属拆的。
Session 是一次会话的生命周期，由 SessionManager 管，token 预算的校验也在这里。
Task 是一个可执行单元，由 TaskManager 管，队列的三个 push 点集中在它这儿，重试和会话终结也是它决定。
Agent 是一个执行体实例，由 LifecycleManager 管，维护 agent 树，决定复用还是新建，以及子 agent 继承哪些 memory。
[指左下]
左下角是任务队列的结构：_ready 是 LIFO 栈，依赖已满足；_blocked 是集合，依赖没满足。队列能序列化，随 session 持久化，进程重启后调度状态还在。
右下角列的是各类状态的写入方——谁能改什么，代码里是固定的。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【05 · 55 秒】
这是最核心的一段代码，一次调用执行一个 task。
Reasoner 组装 memory、blackboard、agent 身份和项目背景，检索可用的工具与技能，必要时触发上下文压缩，输出 ReasoningContext。
Actor 拿着它构建 prompt，流式调用模型，经 PolicyEngine 授权后执行工具和技能，逐轮累积，输出 ActorResult。
Observer 以 ReAct 循环评估这一轮，提交任务评估与复核，写 memory 摘要并发布事件。
[指右上代码]
右边是 run 方法的实际代码，主干就是 reason、act、observe 三行。
中间这个 SUSPENDED 分支要单独说一句：这是等人回答的出口。人工介入在这里不是旁路逻辑，是这条链路上的一个正常返回点——写完本轮记录就退出，用户回答之后 task 重新入队，下一轮从头再跑一遍。
[指右下]
run 方法自己不拼 prompt、不调模型、不执行工具、也不判定任务结果，它只管这几步的先后和退出路径。三个阶段之间只传 types.py 里的三个 dataclass，不共享可变状态——所以 Observer 可以拿一个构造好的 ActorResult 单独测。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【06 · 40 秒】
把刚才那段放到完整链路里看一遍。
[从左上顺着箭头走]
task 创建后发 TASK_CREATED，TaskManager 订阅到就入队：依赖满足的进 _ready 栈，没满足的进 _blocked。pop 取栈顶，是 LIFO，所以刚拆出来的子任务先做完，不会横着铺开一堆半成品。
状态转成 ACTIVE 之后问 LifecycleManager 要执行者，复用还是按模板新建由 task 属性决定，然后才进 AgentLoop 的三段。
[指中间 alt 那块]
这一块是 SUSPENDED 分支，等人回答时写完记录就退出，回答之后重新入队，下一轮从 run 重新开始。
[指底部]
最后状态经转换表校验落库，事件发回 TaskManager，notify_completed 把依赖已经满足的 task 放行，再 pop 下一个；队列空了，这次会话就结束。
整条路径没有一处流程是预先定义好的，但每一步都留下了对象和状态。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【07 · 40 秒】
会变的地方集中在五处。
LLM Adapter，变化点是模型供应商。基类是抽象类，加一家供应商等于写一个 adapter 文件加注册一行。
Registry，变化点是系统支持哪些能力。工具、技能、模型、agent 模板四类注册表，注册一次，调用方不变。
Tool Gateway，变化点是工具来源。内置、控制、MCP 三类走同一条路径：授权、审计、执行、再审计。
State Machine，变化点是状态与恢复路径。Session、Task、Agent 各一张转换表，集中校验，非法转换直接抛错。
EventBus，变化点是一件事发生后要做几件事。领域服务只管 publish，消费方 subscribe 注册，加一个消费者生产方不用动。
这五处都是实际迭代中反复改动之后才抽出来的。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【08 · 35 秒】
这一页对着评分项，每一条都能翻到具体文件。
可读：类名和目录名对应领域概念。
可维护：能力变更不进入 runtime，新增 provider 等于实现基类加注册一次。
可测试：外部依赖经接口注入，MockAdapter 顶掉真实模型，27 组测试不访问网络。
安全：工具调用单一入口，授权、审计、参数脱敏、输出截断都集中在 ToolGateway.call()。
可靠：状态转换集中校验，非法转换抛 INVALID_STATE_TRANSITION，挂起可恢复，失败按计数重试。
可演进：四类注册表，启动时装配。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【09 · 25 秒】
三句话收一下。
结构上，按状态归属拆对象，执行链拆成固定阶段，变化点收敛到 adapter、registry、gateway 三处。
工程上，依赖集中装配，规则在构造期建索引，横切逻辑收口到单一入口，队列可序列化恢复。
语言上，Protocol、dataclass、Literal、延迟注解、threading 原语，这些用法在仓库里都有出处。
同样的拆法换成任务调度或者工作流引擎也成立，对象名字变了，阶段和扩展点的位置不变。
我的部分讲完了，谢谢。
——
超时应急：07 页五条砍成三条，08 页只念安全、可靠、可测试三条，省 40 秒。
被打断后：直接跳 05、06 两页讲完执行链，其余略过。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附录页，放映时跳过。被问到对应模块时翻过来，照着左边三条讲即可。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附录页，放映时跳过。被问到对应模块时翻过来，照着左边三条讲即可。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附录页，放映时跳过。被问到对应模块时翻过来，照着左边三条讲即可。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附录页，放映时跳过。被问到对应模块时翻过来，照着左边三条讲即可。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附录页，放映时跳过。被问到对应模块时翻过来，照着左边三条讲即可。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9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A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代码英雄评选 · 项目陈述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75B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IPMaster-Cowork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4028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Runtime</a:t>
            </a:r>
            <a:endParaRPr lang="en-US" sz="3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代码结构与设计说明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73075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A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 · 150 个模块 · 16,925 行 Python · 27 组测试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035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A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参赛人：Lin          部门：______          仓库：miniAgents / app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589520" y="1691640"/>
            <a:ext cx="2926080" cy="475488"/>
          </a:xfrm>
          <a:prstGeom prst="roundRect">
            <a:avLst>
              <a:gd name="adj" fmla="val 9615"/>
            </a:avLst>
          </a:prstGeom>
          <a:solidFill>
            <a:srgbClr val="1A2733"/>
          </a:solidFill>
          <a:ln w="12700">
            <a:solidFill>
              <a:srgbClr val="2E3E4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89520" y="169164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Runtime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052560" y="2167128"/>
            <a:ext cx="0" cy="411480"/>
          </a:xfrm>
          <a:prstGeom prst="line">
            <a:avLst/>
          </a:prstGeom>
          <a:noFill/>
          <a:ln w="12700">
            <a:solidFill>
              <a:srgbClr val="44586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452360" y="2578608"/>
            <a:ext cx="3200400" cy="0"/>
          </a:xfrm>
          <a:prstGeom prst="line">
            <a:avLst/>
          </a:prstGeom>
          <a:noFill/>
          <a:ln w="12700">
            <a:solidFill>
              <a:srgbClr val="44586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406640" y="2578608"/>
            <a:ext cx="0" cy="256032"/>
          </a:xfrm>
          <a:prstGeom prst="line">
            <a:avLst/>
          </a:prstGeom>
          <a:noFill/>
          <a:ln w="12700">
            <a:solidFill>
              <a:srgbClr val="44586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20840" y="2834640"/>
            <a:ext cx="1371600" cy="457200"/>
          </a:xfrm>
          <a:prstGeom prst="roundRect">
            <a:avLst>
              <a:gd name="adj" fmla="val 10000"/>
            </a:avLst>
          </a:prstGeom>
          <a:solidFill>
            <a:srgbClr val="1A2733"/>
          </a:solidFill>
          <a:ln w="12700">
            <a:solidFill>
              <a:srgbClr val="2E3E4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20840" y="28346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Reasoner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406640" y="3291840"/>
            <a:ext cx="0" cy="274320"/>
          </a:xfrm>
          <a:prstGeom prst="line">
            <a:avLst/>
          </a:prstGeom>
          <a:noFill/>
          <a:ln w="12700">
            <a:solidFill>
              <a:srgbClr val="44586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006840" y="2578608"/>
            <a:ext cx="0" cy="256032"/>
          </a:xfrm>
          <a:prstGeom prst="line">
            <a:avLst/>
          </a:prstGeom>
          <a:noFill/>
          <a:ln w="12700">
            <a:solidFill>
              <a:srgbClr val="44586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21040" y="2834640"/>
            <a:ext cx="1371600" cy="457200"/>
          </a:xfrm>
          <a:prstGeom prst="roundRect">
            <a:avLst>
              <a:gd name="adj" fmla="val 10000"/>
            </a:avLst>
          </a:prstGeom>
          <a:solidFill>
            <a:srgbClr val="1A2733"/>
          </a:solidFill>
          <a:ln w="12700">
            <a:solidFill>
              <a:srgbClr val="2E3E4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21040" y="28346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Actor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006840" y="3291840"/>
            <a:ext cx="0" cy="274320"/>
          </a:xfrm>
          <a:prstGeom prst="line">
            <a:avLst/>
          </a:prstGeom>
          <a:noFill/>
          <a:ln w="12700">
            <a:solidFill>
              <a:srgbClr val="44586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607040" y="2578608"/>
            <a:ext cx="0" cy="256032"/>
          </a:xfrm>
          <a:prstGeom prst="line">
            <a:avLst/>
          </a:prstGeom>
          <a:noFill/>
          <a:ln w="12700">
            <a:solidFill>
              <a:srgbClr val="44586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921240" y="2834640"/>
            <a:ext cx="1371600" cy="457200"/>
          </a:xfrm>
          <a:prstGeom prst="roundRect">
            <a:avLst>
              <a:gd name="adj" fmla="val 10000"/>
            </a:avLst>
          </a:prstGeom>
          <a:solidFill>
            <a:srgbClr val="1A2733"/>
          </a:solidFill>
          <a:ln w="12700">
            <a:solidFill>
              <a:srgbClr val="2E3E4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921240" y="28346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Observer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607040" y="3291840"/>
            <a:ext cx="0" cy="274320"/>
          </a:xfrm>
          <a:prstGeom prst="line">
            <a:avLst/>
          </a:prstGeom>
          <a:noFill/>
          <a:ln w="12700">
            <a:solidFill>
              <a:srgbClr val="44586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52360" y="3566160"/>
            <a:ext cx="3200400" cy="0"/>
          </a:xfrm>
          <a:prstGeom prst="line">
            <a:avLst/>
          </a:prstGeom>
          <a:noFill/>
          <a:ln w="12700">
            <a:solidFill>
              <a:srgbClr val="44586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406640" y="3566160"/>
            <a:ext cx="0" cy="256032"/>
          </a:xfrm>
          <a:prstGeom prst="line">
            <a:avLst/>
          </a:prstGeom>
          <a:noFill/>
          <a:ln w="12700">
            <a:solidFill>
              <a:srgbClr val="44586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20840" y="3822192"/>
            <a:ext cx="1371600" cy="457200"/>
          </a:xfrm>
          <a:prstGeom prst="roundRect">
            <a:avLst>
              <a:gd name="adj" fmla="val 10000"/>
            </a:avLst>
          </a:prstGeom>
          <a:solidFill>
            <a:srgbClr val="101922"/>
          </a:solidFill>
          <a:ln w="12700">
            <a:solidFill>
              <a:srgbClr val="3A4C5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20840" y="382219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75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9006840" y="3566160"/>
            <a:ext cx="0" cy="256032"/>
          </a:xfrm>
          <a:prstGeom prst="line">
            <a:avLst/>
          </a:prstGeom>
          <a:noFill/>
          <a:ln w="12700">
            <a:solidFill>
              <a:srgbClr val="44586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1040" y="3822192"/>
            <a:ext cx="1371600" cy="457200"/>
          </a:xfrm>
          <a:prstGeom prst="roundRect">
            <a:avLst>
              <a:gd name="adj" fmla="val 10000"/>
            </a:avLst>
          </a:prstGeom>
          <a:solidFill>
            <a:srgbClr val="101922"/>
          </a:solidFill>
          <a:ln w="12700">
            <a:solidFill>
              <a:srgbClr val="3A4C5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321040" y="382219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75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Tool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10607040" y="3566160"/>
            <a:ext cx="0" cy="256032"/>
          </a:xfrm>
          <a:prstGeom prst="line">
            <a:avLst/>
          </a:prstGeom>
          <a:noFill/>
          <a:ln w="12700">
            <a:solidFill>
              <a:srgbClr val="44586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921240" y="3822192"/>
            <a:ext cx="1371600" cy="457200"/>
          </a:xfrm>
          <a:prstGeom prst="roundRect">
            <a:avLst>
              <a:gd name="adj" fmla="val 10000"/>
            </a:avLst>
          </a:prstGeom>
          <a:solidFill>
            <a:srgbClr val="101922"/>
          </a:solidFill>
          <a:ln w="12700">
            <a:solidFill>
              <a:srgbClr val="3A4C5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921240" y="382219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75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720840" y="45262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执行链三阶段；能力经 adapter / gateway / registry 接入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75B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pPr indent="0" marL="0">
              <a:buNone/>
            </a:pPr>
            <a:r>
              <a:rPr lang="en-US" sz="1050" dirty="0">
                <a:solidFill>
                  <a:srgbClr val="6B7A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项目介绍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两类现有形态的局限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225296"/>
            <a:ext cx="5486400" cy="2157984"/>
          </a:xfrm>
          <a:prstGeom prst="roundRect">
            <a:avLst>
              <a:gd name="adj" fmla="val 2542"/>
            </a:avLst>
          </a:prstGeom>
          <a:solidFill>
            <a:srgbClr val="16202A"/>
          </a:solidFill>
          <a:ln w="12700">
            <a:solidFill>
              <a:srgbClr val="1620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13716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Workflow 型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1682496"/>
            <a:ext cx="4974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75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节点与连边在开发期定义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011680"/>
            <a:ext cx="49743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950" dirty="0">
                <a:solidFill>
                  <a:srgbClr val="8A9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新增一条分支要改图、改代码、重新发布</a:t>
            </a:r>
            <a:endParaRPr lang="en-US" sz="9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50" dirty="0">
                <a:solidFill>
                  <a:srgbClr val="8A9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节点粒度固定，运行期不能再拆分或增派执行者</a:t>
            </a:r>
            <a:endParaRPr lang="en-US" sz="9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50" dirty="0">
                <a:solidFill>
                  <a:srgbClr val="8A9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异常路径需事先穷举，组合随节点数增长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144768" y="1225296"/>
            <a:ext cx="5486400" cy="2157984"/>
          </a:xfrm>
          <a:prstGeom prst="roundRect">
            <a:avLst>
              <a:gd name="adj" fmla="val 2542"/>
            </a:avLst>
          </a:prstGeom>
          <a:solidFill>
            <a:srgbClr val="16202A"/>
          </a:solidFill>
          <a:ln w="12700">
            <a:solidFill>
              <a:srgbClr val="16202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0" y="13716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ReAct 单循环型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682496"/>
            <a:ext cx="4974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75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thought / action / observation 累积在一条消息链上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2011680"/>
            <a:ext cx="49743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950" dirty="0">
                <a:solidFill>
                  <a:srgbClr val="8A9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无 task 对象，依赖、进度、单独重试都无从表达</a:t>
            </a:r>
            <a:endParaRPr lang="en-US" sz="9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50" dirty="0">
                <a:solidFill>
                  <a:srgbClr val="8A9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消息链单调增长，长流程触上下文上限</a:t>
            </a:r>
            <a:endParaRPr lang="en-US" sz="9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50" dirty="0">
                <a:solidFill>
                  <a:srgbClr val="8A9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失败整段重来；完成与否由模型正文自述；工具白名单全局一套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8640" y="3584448"/>
            <a:ext cx="11082528" cy="1700784"/>
          </a:xfrm>
          <a:prstGeom prst="roundRect">
            <a:avLst>
              <a:gd name="adj" fmla="val 3226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" y="37490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本项目：ReAct 循环执行，task 对象约束过程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" y="413308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5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执行：ReAct 循环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" y="4425696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AgentLoop 每轮 reason → act → observe，下一步调什么工具由模型在执行中决定；plan task 产出子 task，运行期可继续拆。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327648" y="413308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5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约束：task + Observer 复核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327648" y="4425696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每步落成 task，带 status、dag_deps、agent 归属；Observer 每轮提交评估，FINISHED 可回退 PENDING 重做，失败按 failure_counter 重试。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1475720" y="651052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A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75B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pPr indent="0" marL="0">
              <a:buNone/>
            </a:pPr>
            <a:r>
              <a:rPr lang="en-US" sz="1050" dirty="0">
                <a:solidFill>
                  <a:srgbClr val="6B7A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代码规模与构成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app/ 目录构成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按目录的代码行数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00784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runtime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920240" y="1755648"/>
            <a:ext cx="2651760" cy="118872"/>
          </a:xfrm>
          <a:prstGeom prst="rect">
            <a:avLst/>
          </a:prstGeom>
          <a:solidFill>
            <a:srgbClr val="C75B2C"/>
          </a:solidFill>
          <a:ln w="12700">
            <a:solidFill>
              <a:srgbClr val="C75B2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709160" y="1700784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3,087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66544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920240" y="2121408"/>
            <a:ext cx="1888101" cy="118872"/>
          </a:xfrm>
          <a:prstGeom prst="rect">
            <a:avLst/>
          </a:prstGeom>
          <a:solidFill>
            <a:srgbClr val="C9D2D9"/>
          </a:solidFill>
          <a:ln w="12700">
            <a:solidFill>
              <a:srgbClr val="C9D2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709160" y="2066544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2,198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432304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920240" y="2487168"/>
            <a:ext cx="1581435" cy="118872"/>
          </a:xfrm>
          <a:prstGeom prst="rect">
            <a:avLst/>
          </a:prstGeom>
          <a:solidFill>
            <a:srgbClr val="C9D2D9"/>
          </a:solidFill>
          <a:ln w="12700">
            <a:solidFill>
              <a:srgbClr val="C9D2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709160" y="2432304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1,841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2798064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domain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920240" y="2852928"/>
            <a:ext cx="1561678" cy="118872"/>
          </a:xfrm>
          <a:prstGeom prst="rect">
            <a:avLst/>
          </a:prstGeom>
          <a:solidFill>
            <a:srgbClr val="C9D2D9"/>
          </a:solidFill>
          <a:ln w="12700">
            <a:solidFill>
              <a:srgbClr val="C9D2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709160" y="2798064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1,818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163824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920240" y="3218688"/>
            <a:ext cx="1559960" cy="118872"/>
          </a:xfrm>
          <a:prstGeom prst="rect">
            <a:avLst/>
          </a:prstGeom>
          <a:solidFill>
            <a:srgbClr val="C9D2D9"/>
          </a:solidFill>
          <a:ln w="12700">
            <a:solidFill>
              <a:srgbClr val="C9D2D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709160" y="3163824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1,816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529584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orchestrator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920240" y="3584448"/>
            <a:ext cx="1551370" cy="118872"/>
          </a:xfrm>
          <a:prstGeom prst="rect">
            <a:avLst/>
          </a:prstGeom>
          <a:solidFill>
            <a:srgbClr val="C9D2D9"/>
          </a:solidFill>
          <a:ln w="12700">
            <a:solidFill>
              <a:srgbClr val="C9D2D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09160" y="3529584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1,806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3895344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skills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920240" y="3950208"/>
            <a:ext cx="1139046" cy="118872"/>
          </a:xfrm>
          <a:prstGeom prst="rect">
            <a:avLst/>
          </a:prstGeom>
          <a:solidFill>
            <a:srgbClr val="C9D2D9"/>
          </a:solidFill>
          <a:ln w="12700">
            <a:solidFill>
              <a:srgbClr val="C9D2D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09160" y="3895344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1,326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4261104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common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20240" y="4315968"/>
            <a:ext cx="1064312" cy="118872"/>
          </a:xfrm>
          <a:prstGeom prst="rect">
            <a:avLst/>
          </a:prstGeom>
          <a:solidFill>
            <a:srgbClr val="C9D2D9"/>
          </a:solidFill>
          <a:ln w="12700">
            <a:solidFill>
              <a:srgbClr val="C9D2D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09160" y="4261104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1,239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626864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storage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1920240" y="4681728"/>
            <a:ext cx="891651" cy="118872"/>
          </a:xfrm>
          <a:prstGeom prst="rect">
            <a:avLst/>
          </a:prstGeom>
          <a:solidFill>
            <a:srgbClr val="C9D2D9"/>
          </a:solidFill>
          <a:ln w="12700">
            <a:solidFill>
              <a:srgbClr val="C9D2D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709160" y="4626864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1,038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4992624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其他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920240" y="5047488"/>
            <a:ext cx="648552" cy="118872"/>
          </a:xfrm>
          <a:prstGeom prst="rect">
            <a:avLst/>
          </a:prstGeom>
          <a:solidFill>
            <a:srgbClr val="C9D2D9"/>
          </a:solidFill>
          <a:ln w="12700">
            <a:solidFill>
              <a:srgbClr val="C9D2D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709160" y="4992624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755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080760" y="1298448"/>
            <a:ext cx="5550408" cy="4041648"/>
          </a:xfrm>
          <a:prstGeom prst="roundRect">
            <a:avLst>
              <a:gd name="adj" fmla="val 1357"/>
            </a:avLst>
          </a:prstGeom>
          <a:solidFill>
            <a:srgbClr val="16202A"/>
          </a:solidFill>
          <a:ln w="12700">
            <a:solidFill>
              <a:srgbClr val="16202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45352" y="1389888"/>
            <a:ext cx="52212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39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 目录结构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6245352" y="1627632"/>
            <a:ext cx="5221224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E8A0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IPMaster-Cowork / app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domain/         Session · Task · Agent · Blackboard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839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models/     领域模型 + 状态机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839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services/   领域服务（9 个）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839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events/     EventBus · EventTypes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orchestrator/   SessionManager · TaskManager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            LifecycleManager · TaskQueue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runtime/        AgentLoop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            Reasoner · Actor · Observer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            ToolGateway · PolicyEngine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llm/            BaseAdapter · OpenAI / Anthropic / Mock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tools/          Registry · Builtin · Control · MCP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skills/         SkillRegistry · Loader · Executor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agent_template/ Agent 模板定义与同步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storage/        file / db / cache / artifact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api/            REST · SSE · Schema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observability/  logging · metrics · tracing · audit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48640" y="5596128"/>
            <a:ext cx="11082528" cy="868680"/>
          </a:xfrm>
          <a:prstGeom prst="roundRect">
            <a:avLst>
              <a:gd name="adj" fmla="val 6316"/>
            </a:avLst>
          </a:prstGeom>
          <a:solidFill>
            <a:srgbClr val="16202A"/>
          </a:solidFill>
          <a:ln w="12700">
            <a:solidFill>
              <a:srgbClr val="16202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68680" y="5596128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运行期需要同时处理：多 task 与 task 依赖、多 agent 与动态创建、Tool / Skill / MCP 三类能力、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会话生命周期、人工介入与挂起恢复、memory 压缩、中断、provider 差异、工具审计。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8001000" y="5724144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75B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150</a:t>
            </a:r>
            <a:endParaRPr lang="en-US" sz="1700" dirty="0"/>
          </a:p>
        </p:txBody>
      </p:sp>
      <p:sp>
        <p:nvSpPr>
          <p:cNvPr id="41" name="Text 39"/>
          <p:cNvSpPr txBox="1"/>
          <p:nvPr/>
        </p:nvSpPr>
        <p:spPr>
          <a:xfrm>
            <a:off x="8001000" y="606247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模块文件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9226296" y="5724144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75B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16,925</a:t>
            </a:r>
            <a:endParaRPr lang="en-US" sz="1700" dirty="0"/>
          </a:p>
        </p:txBody>
      </p:sp>
      <p:sp>
        <p:nvSpPr>
          <p:cNvPr id="43" name="Text 41"/>
          <p:cNvSpPr txBox="1"/>
          <p:nvPr/>
        </p:nvSpPr>
        <p:spPr>
          <a:xfrm>
            <a:off x="9226296" y="606247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 Python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10451592" y="5724144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75B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</a:t>
            </a:r>
            <a:endParaRPr lang="en-US" sz="1700" dirty="0"/>
          </a:p>
        </p:txBody>
      </p:sp>
      <p:sp>
        <p:nvSpPr>
          <p:cNvPr id="45" name="Text 43"/>
          <p:cNvSpPr txBox="1"/>
          <p:nvPr/>
        </p:nvSpPr>
        <p:spPr>
          <a:xfrm>
            <a:off x="10451592" y="606247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组测试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1475720" y="651052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A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75B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pPr indent="0" marL="0">
              <a:buNone/>
            </a:pPr>
            <a:r>
              <a:rPr lang="en-US" sz="1050" dirty="0">
                <a:solidFill>
                  <a:srgbClr val="6B7A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代码结构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分层与依赖方向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261872"/>
            <a:ext cx="7086600" cy="548640"/>
          </a:xfrm>
          <a:prstGeom prst="roundRect">
            <a:avLst>
              <a:gd name="adj" fmla="val 8333"/>
            </a:avLst>
          </a:prstGeom>
          <a:solidFill>
            <a:srgbClr val="F1F3F5"/>
          </a:solidFill>
          <a:ln w="12700">
            <a:solidFill>
              <a:srgbClr val="E5EA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261872"/>
            <a:ext cx="7086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API　　REST / SSE / Request / Schema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091940" y="1810512"/>
            <a:ext cx="0" cy="201168"/>
          </a:xfrm>
          <a:prstGeom prst="line">
            <a:avLst/>
          </a:prstGeom>
          <a:noFill/>
          <a:ln w="12700">
            <a:solidFill>
              <a:srgbClr val="6B7A88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548640" y="2011680"/>
            <a:ext cx="7086600" cy="749808"/>
          </a:xfrm>
          <a:prstGeom prst="roundRect">
            <a:avLst>
              <a:gd name="adj" fmla="val 6098"/>
            </a:avLst>
          </a:prstGeom>
          <a:solidFill>
            <a:srgbClr val="F1F3F5"/>
          </a:solidFill>
          <a:ln w="12700">
            <a:solidFill>
              <a:srgbClr val="E5EA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1031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Orchestrator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395728"/>
            <a:ext cx="6720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SessionManager · TaskManager · LifecycleManager · TaskQueue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091940" y="2761488"/>
            <a:ext cx="0" cy="201168"/>
          </a:xfrm>
          <a:prstGeom prst="line">
            <a:avLst/>
          </a:prstGeom>
          <a:noFill/>
          <a:ln w="12700">
            <a:solidFill>
              <a:srgbClr val="6B7A8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48640" y="2962656"/>
            <a:ext cx="7086600" cy="1024128"/>
          </a:xfrm>
          <a:prstGeom prst="roundRect">
            <a:avLst>
              <a:gd name="adj" fmla="val 4464"/>
            </a:avLst>
          </a:prstGeom>
          <a:solidFill>
            <a:srgbClr val="16202A"/>
          </a:solidFill>
          <a:ln w="12700">
            <a:solidFill>
              <a:srgbClr val="16202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3054096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Runtime　AgentLoop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" y="3364992"/>
            <a:ext cx="2103120" cy="475488"/>
          </a:xfrm>
          <a:prstGeom prst="roundRect">
            <a:avLst>
              <a:gd name="adj" fmla="val 9615"/>
            </a:avLst>
          </a:prstGeom>
          <a:solidFill>
            <a:srgbClr val="1A2733"/>
          </a:solidFill>
          <a:ln w="12700">
            <a:solidFill>
              <a:srgbClr val="2E3E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364992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Reasoner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980944" y="3364992"/>
            <a:ext cx="2103120" cy="475488"/>
          </a:xfrm>
          <a:prstGeom prst="roundRect">
            <a:avLst>
              <a:gd name="adj" fmla="val 9615"/>
            </a:avLst>
          </a:prstGeom>
          <a:solidFill>
            <a:srgbClr val="1A2733"/>
          </a:solidFill>
          <a:ln w="12700">
            <a:solidFill>
              <a:srgbClr val="2E3E4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980944" y="3364992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Actor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230368" y="3364992"/>
            <a:ext cx="2103120" cy="475488"/>
          </a:xfrm>
          <a:prstGeom prst="roundRect">
            <a:avLst>
              <a:gd name="adj" fmla="val 9615"/>
            </a:avLst>
          </a:prstGeom>
          <a:solidFill>
            <a:srgbClr val="1A2733"/>
          </a:solidFill>
          <a:ln w="12700">
            <a:solidFill>
              <a:srgbClr val="2E3E4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230368" y="3364992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Observer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091940" y="3986784"/>
            <a:ext cx="0" cy="201168"/>
          </a:xfrm>
          <a:prstGeom prst="line">
            <a:avLst/>
          </a:prstGeom>
          <a:noFill/>
          <a:ln w="12700">
            <a:solidFill>
              <a:srgbClr val="6B7A8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48640" y="4187952"/>
            <a:ext cx="2249424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2700">
            <a:solidFill>
              <a:srgbClr val="E5EAE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251960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75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Adapter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5171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openai / anthropic / mock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944368" y="4187952"/>
            <a:ext cx="2249424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2700">
            <a:solidFill>
              <a:srgbClr val="E5EAE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944368" y="4251960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75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Tool Gateway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2944368" y="45171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builtin / control / MCP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340096" y="4187952"/>
            <a:ext cx="2249424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2700">
            <a:solidFill>
              <a:srgbClr val="E5EAE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340096" y="4251960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75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 Registry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5340096" y="45171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 / workspace / remote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091940" y="4901184"/>
            <a:ext cx="0" cy="201168"/>
          </a:xfrm>
          <a:prstGeom prst="line">
            <a:avLst/>
          </a:prstGeom>
          <a:noFill/>
          <a:ln w="12700">
            <a:solidFill>
              <a:srgbClr val="6B7A88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548640" y="5102352"/>
            <a:ext cx="7086600" cy="548640"/>
          </a:xfrm>
          <a:prstGeom prst="roundRect">
            <a:avLst>
              <a:gd name="adj" fmla="val 8333"/>
            </a:avLst>
          </a:prstGeom>
          <a:solidFill>
            <a:srgbClr val="F1F3F5"/>
          </a:solidFill>
          <a:ln w="12700">
            <a:solidFill>
              <a:srgbClr val="E5EAE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5102352"/>
            <a:ext cx="7086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Domain　模型 · 状态机 · 领域服务　|　Storage　|　EventBus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797296"/>
            <a:ext cx="7086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依赖自上而下逐层调用；跨模块通知通过 EventBus 发布订阅。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882128" y="1261872"/>
            <a:ext cx="3749040" cy="1481328"/>
          </a:xfrm>
          <a:prstGeom prst="roundRect">
            <a:avLst>
              <a:gd name="adj" fmla="val 3704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092440" y="138988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API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8092440" y="1682496"/>
            <a:ext cx="33467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6B7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路由按资源划分：sessions / tasks / tools / skills / llms / memories；请求与响应结构由 schemas 定义，执行过程通过 SSE 推送。Service 实例在 deps.py 以 @lru_cache 单例装配后注入路由。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8092440" y="2468880"/>
            <a:ext cx="3346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75B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api/v1/routes/ · api/v1/deps.py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7882128" y="2889504"/>
            <a:ext cx="3749040" cy="1481328"/>
          </a:xfrm>
          <a:prstGeom prst="roundRect">
            <a:avLst>
              <a:gd name="adj" fmla="val 3704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092440" y="301752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Orchestrator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8092440" y="3310128"/>
            <a:ext cx="33467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6B7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SessionManager 建会话与 root agent 并启动执行线程；TaskManager 订阅任务事件、维护 TaskQueue、决定下一个 task 与重试；LifecycleManager 维护 agent 树，复用或新建执行体。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8092440" y="4096512"/>
            <a:ext cx="3346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75B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session_manager · task_manager · lifecycle_manager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7882128" y="4517136"/>
            <a:ext cx="3749040" cy="1481328"/>
          </a:xfrm>
          <a:prstGeom prst="roundRect">
            <a:avLst>
              <a:gd name="adj" fmla="val 3704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092440" y="464515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Runtime</a:t>
            </a:r>
            <a:endParaRPr lang="en-US" sz="1250" dirty="0"/>
          </a:p>
        </p:txBody>
      </p:sp>
      <p:sp>
        <p:nvSpPr>
          <p:cNvPr id="43" name="Text 41"/>
          <p:cNvSpPr txBox="1"/>
          <p:nvPr/>
        </p:nvSpPr>
        <p:spPr>
          <a:xfrm>
            <a:off x="8092440" y="4937760"/>
            <a:ext cx="33467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6B7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AgentLoop 按 Reasoner → Actor → Observer 执行单个 task；PromptBuilder 组装消息，ToolGateway 收口工具调用，PolicyEngine 校验权限，MemoryCompaction 处理上下文超限。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8092440" y="5724144"/>
            <a:ext cx="3346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75B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agent_loop · tool_gateway · prompt_builder</a:t>
            </a:r>
            <a:endParaRPr lang="en-US" sz="800" dirty="0"/>
          </a:p>
        </p:txBody>
      </p:sp>
      <p:sp>
        <p:nvSpPr>
          <p:cNvPr id="45" name="Text 43"/>
          <p:cNvSpPr txBox="1"/>
          <p:nvPr/>
        </p:nvSpPr>
        <p:spPr>
          <a:xfrm>
            <a:off x="11475720" y="651052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A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75B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pPr indent="0" marL="0">
              <a:buNone/>
            </a:pPr>
            <a:r>
              <a:rPr lang="en-US" sz="1050" dirty="0">
                <a:solidFill>
                  <a:srgbClr val="6B7A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复杂度建模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Session / Task / Agent 与三个 Manager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261872"/>
            <a:ext cx="3575304" cy="2743200"/>
          </a:xfrm>
          <a:prstGeom prst="roundRect">
            <a:avLst>
              <a:gd name="adj" fmla="val 2000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408176"/>
            <a:ext cx="3172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Session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1755648"/>
            <a:ext cx="3172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5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「一次会话的生命周期」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011680"/>
            <a:ext cx="3172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状态与预算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49808" y="2286000"/>
            <a:ext cx="3172968" cy="402336"/>
          </a:xfrm>
          <a:prstGeom prst="roundRect">
            <a:avLst>
              <a:gd name="adj" fmla="val 11364"/>
            </a:avLst>
          </a:prstGeom>
          <a:solidFill>
            <a:srgbClr val="16202A"/>
          </a:solidFill>
          <a:ln w="12700">
            <a:solidFill>
              <a:srgbClr val="16202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2286000"/>
            <a:ext cx="3172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SessionManager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798064"/>
            <a:ext cx="31729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创建 session 与 root agent，起执行线程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answer_input / interrupt / continue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token_budget 校验在此处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06824" y="1261872"/>
            <a:ext cx="3575304" cy="2743200"/>
          </a:xfrm>
          <a:prstGeom prst="roundRect">
            <a:avLst>
              <a:gd name="adj" fmla="val 2000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07992" y="1408176"/>
            <a:ext cx="3172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Task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507992" y="1755648"/>
            <a:ext cx="3172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5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「一个可执行单元」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07992" y="2011680"/>
            <a:ext cx="3172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调度与依赖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07992" y="2286000"/>
            <a:ext cx="3172968" cy="402336"/>
          </a:xfrm>
          <a:prstGeom prst="roundRect">
            <a:avLst>
              <a:gd name="adj" fmla="val 11364"/>
            </a:avLst>
          </a:prstGeom>
          <a:solidFill>
            <a:srgbClr val="16202A"/>
          </a:solidFill>
          <a:ln w="12700">
            <a:solidFill>
              <a:srgbClr val="16202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07992" y="2286000"/>
            <a:ext cx="3172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TaskManager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4507992" y="2798064"/>
            <a:ext cx="31729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订阅 TASK_CREATED / FINISHED / FAILED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TaskQueue 的三个 push 点集中在此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决定下一个 task、重试、session 终结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065008" y="1261872"/>
            <a:ext cx="3575304" cy="2743200"/>
          </a:xfrm>
          <a:prstGeom prst="roundRect">
            <a:avLst>
              <a:gd name="adj" fmla="val 2000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66176" y="1408176"/>
            <a:ext cx="3172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8266176" y="1755648"/>
            <a:ext cx="3172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5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「一个执行体实例」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266176" y="2011680"/>
            <a:ext cx="3172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实例与树结构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8266176" y="2286000"/>
            <a:ext cx="3172968" cy="402336"/>
          </a:xfrm>
          <a:prstGeom prst="roundRect">
            <a:avLst>
              <a:gd name="adj" fmla="val 11364"/>
            </a:avLst>
          </a:prstGeom>
          <a:solidFill>
            <a:srgbClr val="16202A"/>
          </a:solidFill>
          <a:ln w="12700">
            <a:solidFill>
              <a:srgbClr val="16202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66176" y="2286000"/>
            <a:ext cx="3172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LifecycleManager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266176" y="2798064"/>
            <a:ext cx="31729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维护 session 内的 agent 树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prepare_executor：复用或新建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实例化 sub-agent，按配置继承 memory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" y="4206240"/>
            <a:ext cx="4572000" cy="1883664"/>
          </a:xfrm>
          <a:prstGeom prst="roundRect">
            <a:avLst>
              <a:gd name="adj" fmla="val 2913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77240" y="433425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TaskQueue（每个 session 一个）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4663440"/>
            <a:ext cx="4160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C75B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_ready</a:t>
            </a:r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6B7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list[str]，LIFO 栈，dag_deps 已满足
</a:t>
            </a:r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C75B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_blocked</a:t>
            </a:r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6B7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set[str]，依赖未满足
</a:t>
            </a:r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C75B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notify_completed()</a:t>
            </a:r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6B7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依赖满足后从 _blocked 移入 _ready
</a:t>
            </a:r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C75B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to_dict / from_dict</a:t>
            </a:r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6B7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队列随 session 持久化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349240" y="4206240"/>
            <a:ext cx="6281928" cy="1883664"/>
          </a:xfrm>
          <a:prstGeom prst="roundRect">
            <a:avLst>
              <a:gd name="adj" fmla="val 2913"/>
            </a:avLst>
          </a:prstGeom>
          <a:solidFill>
            <a:srgbClr val="16202A"/>
          </a:solidFill>
          <a:ln w="12700">
            <a:solidFill>
              <a:srgbClr val="16202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513832" y="4297680"/>
            <a:ext cx="5952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39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状态与资源的持有方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5513832" y="4535424"/>
            <a:ext cx="59527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 状态   SessionService 写入，经 SessionStateMachine 校验</a:t>
            </a:r>
            <a:endParaRPr lang="en-US" sz="9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 状态      TaskService 写入；AgentLoop 写执行结果，</a:t>
            </a:r>
            <a:endParaRPr lang="en-US" sz="9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   TaskManager 写调度结果（激活 / 重试 / 终结）</a:t>
            </a:r>
            <a:endParaRPr lang="en-US" sz="9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实例     LifecycleManager 创建与回收，状态落 AgentStore</a:t>
            </a:r>
            <a:endParaRPr lang="en-US" sz="9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TaskQueue     TaskManager 持有，push / pop / notify 三个入口</a:t>
            </a:r>
            <a:endParaRPr lang="en-US" sz="9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执行线程       LifecycleManager.run_agent() 启动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11475720" y="651052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A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75B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pPr indent="0" marL="0">
              <a:buNone/>
            </a:pPr>
            <a:r>
              <a:rPr lang="en-US" sz="1050" dirty="0">
                <a:solidFill>
                  <a:srgbClr val="6B7A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核心执行链路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AgentLoop 执行链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AgentLoop.run()　一次调用执行一个 task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48640" y="1591056"/>
            <a:ext cx="5029200" cy="896112"/>
          </a:xfrm>
          <a:prstGeom prst="roundRect">
            <a:avLst>
              <a:gd name="adj" fmla="val 6122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0078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Reasoner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011680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6B7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组装 memory、blackboard、agent 身份与项目背景，检索可用工具与技能，必要时触发上下文压缩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17099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C75B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ReasoningContext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63240" y="2487168"/>
            <a:ext cx="0" cy="237744"/>
          </a:xfrm>
          <a:prstGeom prst="line">
            <a:avLst/>
          </a:prstGeom>
          <a:noFill/>
          <a:ln w="12700">
            <a:solidFill>
              <a:srgbClr val="6B7A8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48640" y="2761488"/>
            <a:ext cx="5029200" cy="896112"/>
          </a:xfrm>
          <a:prstGeom prst="roundRect">
            <a:avLst>
              <a:gd name="adj" fmla="val 6122"/>
            </a:avLst>
          </a:prstGeom>
          <a:solidFill>
            <a:srgbClr val="16202A"/>
          </a:solidFill>
          <a:ln w="12700">
            <a:solidFill>
              <a:srgbClr val="16202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8712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Actor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182112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8A9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 prompt 与消息，流式调用 LLM，经 PolicyEngine 授权后执行工具与技能，逐轮累积结果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291840" y="28803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C75B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ActorResult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063240" y="3657600"/>
            <a:ext cx="0" cy="237744"/>
          </a:xfrm>
          <a:prstGeom prst="line">
            <a:avLst/>
          </a:prstGeom>
          <a:noFill/>
          <a:ln w="12700">
            <a:solidFill>
              <a:srgbClr val="6B7A8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48640" y="3931920"/>
            <a:ext cx="5029200" cy="896112"/>
          </a:xfrm>
          <a:prstGeom prst="roundRect">
            <a:avLst>
              <a:gd name="adj" fmla="val 6122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0416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Observer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352544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6B7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ReAct 循环评估本轮执行，提交任务评估与复核，写入 memory 摘要并发布事件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3291840" y="4050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C75B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ObserverVerdict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4901184"/>
            <a:ext cx="5029200" cy="1280160"/>
          </a:xfrm>
          <a:prstGeom prst="roundRect">
            <a:avLst>
              <a:gd name="adj" fmla="val 4286"/>
            </a:avLst>
          </a:prstGeom>
          <a:solidFill>
            <a:srgbClr val="16202A"/>
          </a:solidFill>
          <a:ln w="12700">
            <a:solidFill>
              <a:srgbClr val="16202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3232" y="4992624"/>
            <a:ext cx="47000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39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app/runtime/types.py — 阶段间契约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713232" y="5230368"/>
            <a:ext cx="470001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82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ReasoningContext  goal, recent_messages, soul, role,</a:t>
            </a:r>
            <a:endParaRPr lang="en-US" sz="82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2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      actor_resources, observer_resources</a:t>
            </a:r>
            <a:endParaRPr lang="en-US" sz="82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2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ActorResult       output, tool_calls_made, conversation_turns,</a:t>
            </a:r>
            <a:endParaRPr lang="en-US" sz="82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2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      actor_mode, context_tokens, exit_reason</a:t>
            </a:r>
            <a:endParaRPr lang="en-US" sz="82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2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ObserverVerdict   summary, context_tokens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5852160" y="1280160"/>
            <a:ext cx="5779008" cy="2834640"/>
          </a:xfrm>
          <a:prstGeom prst="roundRect">
            <a:avLst>
              <a:gd name="adj" fmla="val 1935"/>
            </a:avLst>
          </a:prstGeom>
          <a:solidFill>
            <a:srgbClr val="16202A"/>
          </a:solidFill>
          <a:ln w="12700">
            <a:solidFill>
              <a:srgbClr val="16202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016752" y="1371600"/>
            <a:ext cx="5449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39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app/runtime/agent_loop.py · AgentLoop.run()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6016752" y="1609344"/>
            <a:ext cx="5449824" cy="2414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ctx = self._reasoner.reason(session, agent, task)</a:t>
            </a:r>
            <a:endParaRPr lang="en-US" sz="9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result, task = self._run_actor(</a:t>
            </a:r>
            <a:endParaRPr lang="en-US" sz="9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session, agent, task, ctx, session_id, agent_id,</a:t>
            </a:r>
            <a:endParaRPr lang="en-US" sz="9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interrupt_flag=interrupt_flag)</a:t>
            </a:r>
            <a:endParaRPr lang="en-US" sz="9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E8A0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task.status == "SUSPENDED":      # 等待人工回答</a:t>
            </a:r>
            <a:endParaRPr lang="en-US" sz="9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self._write_suspension_memory(...)</a:t>
            </a:r>
            <a:endParaRPr lang="en-US" sz="9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return</a:t>
            </a:r>
            <a:endParaRPr lang="en-US" sz="9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verdict, task = self._run_observer(</a:t>
            </a:r>
            <a:endParaRPr lang="en-US" sz="9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session, agent, ctx, task, result, ...)</a:t>
            </a:r>
            <a:endParaRPr lang="en-US" sz="980" dirty="0"/>
          </a:p>
        </p:txBody>
      </p:sp>
      <p:sp>
        <p:nvSpPr>
          <p:cNvPr id="25" name="Shape 23"/>
          <p:cNvSpPr/>
          <p:nvPr/>
        </p:nvSpPr>
        <p:spPr>
          <a:xfrm>
            <a:off x="5852160" y="4206240"/>
            <a:ext cx="5779008" cy="1975104"/>
          </a:xfrm>
          <a:prstGeom prst="roundRect">
            <a:avLst>
              <a:gd name="adj" fmla="val 2778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080760" y="4334256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run() 的执行步骤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080760" y="4645152"/>
            <a:ext cx="53035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B7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　载入 agent 并置 RUNNING，注册中断标志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B7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　校验 session 的 token_budget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B7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　首轮将 user_prompt 按包装格式写入 memory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B7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　注入被跟踪 task 的已完成结果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B7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　reason → act → observe，按结果写 task 状态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B7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　记录执行轮次与 memory，发布 blackboard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B7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　finally 段按 task 状态回写 agent 为 WAITING / FINISHED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6080760" y="5888736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退出路径：正常结束 / SUSPENDED 等待回答 / 用户中断 / Observer 判失败上抛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11475720" y="651052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A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75B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pPr indent="0" marL="0">
              <a:buNone/>
            </a:pPr>
            <a:r>
              <a:rPr lang="en-US" sz="1050" dirty="0">
                <a:solidFill>
                  <a:srgbClr val="6B7A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执行时序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 task 的完整路径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3502152" y="1283309"/>
            <a:ext cx="8330184" cy="4766869"/>
          </a:xfrm>
          <a:prstGeom prst="roundRect">
            <a:avLst>
              <a:gd name="adj" fmla="val 1151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pic>
        <p:nvPicPr>
          <p:cNvPr id="5" name="Image 0" descr="img/1_seq_task_lifecy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03320" y="1484477"/>
            <a:ext cx="7927848" cy="436453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37160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75B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13716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入队按依赖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051560" y="166420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B7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TaskManager 订阅 TASK_CREATED，dag_deps 满足的进 _ready 栈，否则进 _blocked；pop 取栈顶，深度优先。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69748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75B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1051560" y="26974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执行分三段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051560" y="299008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B7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LifecycleManager 备好 agent 后进 AgentLoop：reason 装上下文、act 多轮调模型与工具、observe 判定结果。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402336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75B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" y="402336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结果回流调度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1051560" y="431596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B7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状态经 _TASK_TRANSITIONS 校验后落库，事件发回 TaskManager，放行依赖已满足的 task，再 pop 下一个。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23620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对应文件：task_manager.py · task_queue.py · lifecycle_manager.py · agent_loop.py · control_tools.py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11475720" y="651052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A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75B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pPr indent="0" marL="0">
              <a:buNone/>
            </a:pPr>
            <a:r>
              <a:rPr lang="en-US" sz="1050" dirty="0">
                <a:solidFill>
                  <a:srgbClr val="6B7A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扩展点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五处扩展点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3575304" cy="2523744"/>
          </a:xfrm>
          <a:prstGeom prst="roundRect">
            <a:avLst>
              <a:gd name="adj" fmla="val 2174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353312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Adapter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1645920"/>
            <a:ext cx="3172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5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变化点：模型供应商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49808" y="1920240"/>
            <a:ext cx="3172968" cy="1426464"/>
          </a:xfrm>
          <a:prstGeom prst="roundRect">
            <a:avLst>
              <a:gd name="adj" fmla="val 3846"/>
            </a:avLst>
          </a:prstGeom>
          <a:solidFill>
            <a:srgbClr val="16202A"/>
          </a:solidFill>
          <a:ln w="12700">
            <a:solidFill>
              <a:srgbClr val="16202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2011680"/>
            <a:ext cx="28437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39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app/llm/base.py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249424"/>
            <a:ext cx="2843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80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BaseAdapter(ABC):</a:t>
            </a:r>
            <a:endParaRPr lang="en-US" sz="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0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@abstractmethod</a:t>
            </a:r>
            <a:endParaRPr lang="en-US" sz="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0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def complete(self, req): ...</a:t>
            </a:r>
            <a:endParaRPr lang="en-US" sz="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0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0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OpenAIAdapter / AnthropicAdapter / Mock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340156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收益：新增：实现 BaseAdapter + 注册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06824" y="1243584"/>
            <a:ext cx="3575304" cy="2523744"/>
          </a:xfrm>
          <a:prstGeom prst="roundRect">
            <a:avLst>
              <a:gd name="adj" fmla="val 2174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07992" y="1353312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Registry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07992" y="1645920"/>
            <a:ext cx="3172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5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变化点：系统支持哪些能力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07992" y="1920240"/>
            <a:ext cx="3172968" cy="1426464"/>
          </a:xfrm>
          <a:prstGeom prst="roundRect">
            <a:avLst>
              <a:gd name="adj" fmla="val 3846"/>
            </a:avLst>
          </a:prstGeom>
          <a:solidFill>
            <a:srgbClr val="16202A"/>
          </a:solidFill>
          <a:ln w="12700">
            <a:solidFill>
              <a:srgbClr val="16202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72584" y="2011680"/>
            <a:ext cx="28437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39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tools/registry.py · llm/provider_registry.py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4672584" y="2249424"/>
            <a:ext cx="2843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80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registry.register_tools(builtin_tools)</a:t>
            </a:r>
            <a:endParaRPr lang="en-US" sz="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0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registry.register_mcp_http(name, url)</a:t>
            </a:r>
            <a:endParaRPr lang="en-US" sz="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0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provider_registry.register_anthropic()</a:t>
            </a:r>
            <a:endParaRPr lang="en-US" sz="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0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0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 / Skill / LLM / AgentTemplate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4507992" y="340156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收益：新增：注册一次，调用方不变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065008" y="1243584"/>
            <a:ext cx="3575304" cy="2523744"/>
          </a:xfrm>
          <a:prstGeom prst="roundRect">
            <a:avLst>
              <a:gd name="adj" fmla="val 2174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66176" y="1353312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Tool Gateway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66176" y="1645920"/>
            <a:ext cx="3172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5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变化点：工具来源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266176" y="1920240"/>
            <a:ext cx="3172968" cy="1426464"/>
          </a:xfrm>
          <a:prstGeom prst="roundRect">
            <a:avLst>
              <a:gd name="adj" fmla="val 3846"/>
            </a:avLst>
          </a:prstGeom>
          <a:solidFill>
            <a:srgbClr val="16202A"/>
          </a:solidFill>
          <a:ln w="12700">
            <a:solidFill>
              <a:srgbClr val="16202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430768" y="2011680"/>
            <a:ext cx="28437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39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app/runtime/tool_gateway.py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8430768" y="2249424"/>
            <a:ext cx="2843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80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self._policy.authorize(capability, ...)</a:t>
            </a:r>
            <a:endParaRPr lang="en-US" sz="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0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self._store.append(... RUNNING ...)</a:t>
            </a:r>
            <a:endParaRPr lang="en-US" sz="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0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tool_def.handler(arguments, call_ctx)</a:t>
            </a:r>
            <a:endParaRPr lang="en-US" sz="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0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self._store.append(... SUCCEEDED ...)</a:t>
            </a:r>
            <a:endParaRPr lang="en-US" sz="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0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0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授权 -&gt; 审计 -&gt; 执行 -&gt; 审计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8266176" y="340156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收益：内置 / 控制 / MCP 共用同一路径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3950208"/>
            <a:ext cx="5440680" cy="2194560"/>
          </a:xfrm>
          <a:prstGeom prst="roundRect">
            <a:avLst>
              <a:gd name="adj" fmla="val 2500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49808" y="40599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State Machine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49808" y="435254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5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变化点：状态与恢复路径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749808" y="462686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Session / Task / Agent 各一张转换表，集中校验。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49808" y="4919472"/>
            <a:ext cx="5038344" cy="1097280"/>
          </a:xfrm>
          <a:prstGeom prst="roundRect">
            <a:avLst>
              <a:gd name="adj" fmla="val 5000"/>
            </a:avLst>
          </a:prstGeom>
          <a:solidFill>
            <a:srgbClr val="16202A"/>
          </a:solidFill>
          <a:ln w="12700">
            <a:solidFill>
              <a:srgbClr val="16202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4400" y="5010912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39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app/domain/state_machine.py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914400" y="5248656"/>
            <a:ext cx="4709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5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_TASK_TRANSITIONS = {</a:t>
            </a:r>
            <a:endParaRPr lang="en-US" sz="8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5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"ACTIVE":    {"FINISHED", "FAILED", "SUSPENDED"},</a:t>
            </a:r>
            <a:endParaRPr lang="en-US" sz="8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5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"SUSPENDED": {"ACTIVE", "PENDING", "FAILED"},</a:t>
            </a:r>
            <a:endParaRPr lang="en-US" sz="8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50" dirty="0">
                <a:solidFill>
                  <a:srgbClr val="E8A0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"FINISHED":  {"PENDING"},   # 复核不通过时 reopen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190488" y="3950208"/>
            <a:ext cx="5440680" cy="2194560"/>
          </a:xfrm>
          <a:prstGeom prst="roundRect">
            <a:avLst>
              <a:gd name="adj" fmla="val 2500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391656" y="40599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EventBus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391656" y="4352544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5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变化点：一件事发生后要做几件事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391656" y="462686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领域服务只 publish，消费方 subscribe 注册。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391656" y="4919472"/>
            <a:ext cx="5038344" cy="1097280"/>
          </a:xfrm>
          <a:prstGeom prst="roundRect">
            <a:avLst>
              <a:gd name="adj" fmla="val 5000"/>
            </a:avLst>
          </a:prstGeom>
          <a:solidFill>
            <a:srgbClr val="16202A"/>
          </a:solidFill>
          <a:ln w="12700">
            <a:solidFill>
              <a:srgbClr val="16202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556248" y="5010912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39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app/orchestrator/task_manager.py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6556248" y="5248656"/>
            <a:ext cx="4709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5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event_bus.subscribe(TASK_CREATED, self.on_task_created)</a:t>
            </a:r>
            <a:endParaRPr lang="en-US" sz="8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5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event_bus.subscribe(TASK_EXEC_FINISHED, self.on_task_finished)</a:t>
            </a:r>
            <a:endParaRPr lang="en-US" sz="8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5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event_bus.subscribe(TASK_EXEC_FAILED, self.on_task_failed)</a:t>
            </a:r>
            <a:endParaRPr lang="en-US" sz="8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50" dirty="0">
                <a:solidFill>
                  <a:srgbClr val="839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领域服务只 publish，不关心谁在听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11475720" y="651052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A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75B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pPr indent="0" marL="0">
              <a:buNone/>
            </a:pPr>
            <a:r>
              <a:rPr lang="en-US" sz="1050" dirty="0">
                <a:solidFill>
                  <a:srgbClr val="6B7A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代码质量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48640" y="950976"/>
            <a:ext cx="3575304" cy="2414016"/>
          </a:xfrm>
          <a:prstGeom prst="roundRect">
            <a:avLst>
              <a:gd name="adj" fmla="val 2273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11155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5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可读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1426464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类名与目录名对应领域概念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1719072"/>
            <a:ext cx="31729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调度、执行、能力三层的命名一一对应到模块。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49808" y="2249424"/>
            <a:ext cx="3172968" cy="914400"/>
          </a:xfrm>
          <a:prstGeom prst="roundRect">
            <a:avLst>
              <a:gd name="adj" fmla="val 6000"/>
            </a:avLst>
          </a:prstGeom>
          <a:solidFill>
            <a:srgbClr val="16202A"/>
          </a:solidFill>
          <a:ln w="12700">
            <a:solidFill>
              <a:srgbClr val="16202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59536" y="2322576"/>
            <a:ext cx="295351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85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SessionManager / TaskManager</a:t>
            </a:r>
            <a:endParaRPr lang="en-US" sz="8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5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LifecycleManager / TaskQueue</a:t>
            </a:r>
            <a:endParaRPr lang="en-US" sz="8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5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AgentLoop / Reasoner / Actor</a:t>
            </a:r>
            <a:endParaRPr lang="en-US" sz="8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5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Observer / ToolGateway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06824" y="950976"/>
            <a:ext cx="3575304" cy="2414016"/>
          </a:xfrm>
          <a:prstGeom prst="roundRect">
            <a:avLst>
              <a:gd name="adj" fmla="val 2273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07992" y="11155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5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可维护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4507992" y="1426464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能力变更不进入 runtime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507992" y="1719072"/>
            <a:ext cx="31729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新增 provider = 实现 BaseAdapter + 注册一次。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07992" y="2249424"/>
            <a:ext cx="3172968" cy="914400"/>
          </a:xfrm>
          <a:prstGeom prst="roundRect">
            <a:avLst>
              <a:gd name="adj" fmla="val 6000"/>
            </a:avLst>
          </a:prstGeom>
          <a:solidFill>
            <a:srgbClr val="16202A"/>
          </a:solidFill>
          <a:ln w="12700">
            <a:solidFill>
              <a:srgbClr val="16202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17720" y="2322576"/>
            <a:ext cx="295351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85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llm/    openai, anthropic, mock</a:t>
            </a:r>
            <a:endParaRPr lang="en-US" sz="8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5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tools/  builtin, control, mcp</a:t>
            </a:r>
            <a:endParaRPr lang="en-US" sz="8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5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skills/ local, workspace, remote</a:t>
            </a:r>
            <a:endParaRPr lang="en-US" sz="8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5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agent_template/  可配置角色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8065008" y="950976"/>
            <a:ext cx="3575304" cy="2414016"/>
          </a:xfrm>
          <a:prstGeom prst="roundRect">
            <a:avLst>
              <a:gd name="adj" fmla="val 2273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66176" y="11155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5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可测试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8266176" y="1426464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外部依赖经接口注入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266176" y="1719072"/>
            <a:ext cx="31729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 组测试不访问网络，覆盖队列、生命周期、HITL 等路径。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266176" y="2249424"/>
            <a:ext cx="3172968" cy="914400"/>
          </a:xfrm>
          <a:prstGeom prst="roundRect">
            <a:avLst>
              <a:gd name="adj" fmla="val 6000"/>
            </a:avLst>
          </a:prstGeom>
          <a:solidFill>
            <a:srgbClr val="16202A"/>
          </a:solidFill>
          <a:ln w="12700">
            <a:solidFill>
              <a:srgbClr val="16202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75904" y="2322576"/>
            <a:ext cx="295351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85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MockAdapter(BaseAdapter)</a:t>
            </a:r>
            <a:endParaRPr lang="en-US" sz="8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5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tests/test_llm_adapters.py</a:t>
            </a:r>
            <a:endParaRPr lang="en-US" sz="8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5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tests/test_task_queue_batch.py</a:t>
            </a:r>
            <a:endParaRPr lang="en-US" sz="8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5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tests/test_lifecycle_manager.py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48640" y="3547872"/>
            <a:ext cx="3575304" cy="2414016"/>
          </a:xfrm>
          <a:prstGeom prst="roundRect">
            <a:avLst>
              <a:gd name="adj" fmla="val 2273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9808" y="37124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5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安全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749808" y="4023360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工具调用单一入口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749808" y="4315968"/>
            <a:ext cx="31729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授权、审计、参数脱敏、输出截断集中在 ToolGateway.call()。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49808" y="4846320"/>
            <a:ext cx="3172968" cy="914400"/>
          </a:xfrm>
          <a:prstGeom prst="roundRect">
            <a:avLst>
              <a:gd name="adj" fmla="val 6000"/>
            </a:avLst>
          </a:prstGeom>
          <a:solidFill>
            <a:srgbClr val="16202A"/>
          </a:solidFill>
          <a:ln w="12700">
            <a:solidFill>
              <a:srgbClr val="16202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" y="4919472"/>
            <a:ext cx="295351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85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Actor -&gt; ToolGateway -&gt; Tool</a:t>
            </a:r>
            <a:endParaRPr lang="en-US" sz="8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5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PolicyEngine / WhitelistRule</a:t>
            </a:r>
            <a:endParaRPr lang="en-US" sz="8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5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BashExecGuardRule</a:t>
            </a:r>
            <a:endParaRPr lang="en-US" sz="8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5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_redact(): api-key, cookie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306824" y="3547872"/>
            <a:ext cx="3575304" cy="2414016"/>
          </a:xfrm>
          <a:prstGeom prst="roundRect">
            <a:avLst>
              <a:gd name="adj" fmla="val 2273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07992" y="37124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5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可靠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4507992" y="4023360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状态转换集中校验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4507992" y="4315968"/>
            <a:ext cx="31729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非法转换抛 INVALID_STATE_TRANSITION；挂起可恢复，失败按计数重试。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507992" y="4846320"/>
            <a:ext cx="3172968" cy="914400"/>
          </a:xfrm>
          <a:prstGeom prst="roundRect">
            <a:avLst>
              <a:gd name="adj" fmla="val 6000"/>
            </a:avLst>
          </a:prstGeom>
          <a:solidFill>
            <a:srgbClr val="16202A"/>
          </a:solidFill>
          <a:ln w="12700">
            <a:solidFill>
              <a:srgbClr val="16202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617720" y="4919472"/>
            <a:ext cx="295351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85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domain/state_machine.py</a:t>
            </a:r>
            <a:endParaRPr lang="en-US" sz="8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5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SUSPENDED -&gt; answer -&gt; requeue</a:t>
            </a:r>
            <a:endParaRPr lang="en-US" sz="8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5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InterruptRegistry</a:t>
            </a:r>
            <a:endParaRPr lang="en-US" sz="8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5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failure_counter / max_retries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8065008" y="3547872"/>
            <a:ext cx="3575304" cy="2414016"/>
          </a:xfrm>
          <a:prstGeom prst="roundRect">
            <a:avLst>
              <a:gd name="adj" fmla="val 2273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66176" y="37124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5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⑥ 可演进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8266176" y="4023360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能力以注册方式接入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8266176" y="4315968"/>
            <a:ext cx="31729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工具、技能、模型、agent 模板四类注册表，启动时装配。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8266176" y="4846320"/>
            <a:ext cx="3172968" cy="914400"/>
          </a:xfrm>
          <a:prstGeom prst="roundRect">
            <a:avLst>
              <a:gd name="adj" fmla="val 6000"/>
            </a:avLst>
          </a:prstGeom>
          <a:solidFill>
            <a:srgbClr val="16202A"/>
          </a:solidFill>
          <a:ln w="12700">
            <a:solidFill>
              <a:srgbClr val="16202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375904" y="4919472"/>
            <a:ext cx="295351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85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ToolRegistry / SkillRegistry</a:t>
            </a:r>
            <a:endParaRPr lang="en-US" sz="8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5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ProviderRegistry / LLMRegistry</a:t>
            </a:r>
            <a:endParaRPr lang="en-US" sz="8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5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AgentTemplate Registry</a:t>
            </a:r>
            <a:endParaRPr lang="en-US" sz="8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50" dirty="0">
                <a:solidFill>
                  <a:srgbClr val="DDE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EventBus / TaskQueue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11475720" y="651052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A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9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75B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pPr indent="0" marL="0">
              <a:buNone/>
            </a:pPr>
            <a:r>
              <a:rPr lang="en-US" sz="1050" dirty="0">
                <a:solidFill>
                  <a:srgbClr val="8A9A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可借鉴的部分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小结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1790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5B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48132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2024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8A9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按状态归属拆对象，执行链拆成固定阶段，变化点收敛到 adapter / registry / gateway 三处。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88950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5B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85292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329184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8A9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依赖集中装配，规则在构造期建索引，横切逻辑收口到单一入口，Mock 与实现同层，队列可序列化恢复。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26110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5B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422452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语言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466344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8A9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Protocol、dataclass、Literal、TYPE_CHECKING 延迟注解、threading 原语，都有可直接参照的用法。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01000" y="1371600"/>
            <a:ext cx="3630168" cy="3931920"/>
          </a:xfrm>
          <a:prstGeom prst="roundRect">
            <a:avLst>
              <a:gd name="adj" fmla="val 1511"/>
            </a:avLst>
          </a:prstGeom>
          <a:solidFill>
            <a:srgbClr val="1A2733"/>
          </a:solidFill>
          <a:ln w="12700">
            <a:solidFill>
              <a:srgbClr val="1A27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0" y="157276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本篇内容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92024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75B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0" y="191109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A9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问题与做法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233172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75B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0" y="232257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A9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app/ 目录构成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8229600" y="274320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75B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0" y="27340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A9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分层与依赖方向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315468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75B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8686800" y="314553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A9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Session / Task / Agent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356616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75B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686800" y="35570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A9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AgentLoop 执行链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8229600" y="397764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75B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8686800" y="396849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A9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 task 的完整路径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229600" y="438912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75B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8686800" y="437997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A9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五处扩展点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8229600" y="480060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75B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686800" y="47914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A9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命名 / 依赖 / 测试 / 边界 / 状态 / 扩展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5779008"/>
            <a:ext cx="11064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9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同一套拆法可用于任务调度、工作流引擎等长时运行、需要状态恢复的系统：对象换成 Job / Worker 或 Workflow / Node，阶段与扩展点的位置不变。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1475720" y="651052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A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75B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附录</a:t>
            </a:r>
            <a:pPr indent="0" marL="0">
              <a:buNone/>
            </a:pPr>
            <a:r>
              <a:rPr lang="en-US" sz="1050" dirty="0">
                <a:solidFill>
                  <a:srgbClr val="6B7A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A1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Runtime 类结构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3502152" y="1449245"/>
            <a:ext cx="8330184" cy="4434999"/>
          </a:xfrm>
          <a:prstGeom prst="roundRect">
            <a:avLst>
              <a:gd name="adj" fmla="val 1237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pic>
        <p:nvPicPr>
          <p:cNvPr id="5" name="Image 0" descr="img/3_class_run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03320" y="1650413"/>
            <a:ext cx="7927848" cy="403266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37160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75B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13716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组合，不继承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051560" y="166420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B7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AgentLoop 持有三个阶段对象，构造时由 deps.py 注入，自身不 new 任何依赖。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69748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75B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1051560" y="26974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阶段间只传数据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051560" y="299008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B7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 dataclass 定义在 runtime/types.py，阶段之间不共享可变状态。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402336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75B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" y="402336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因此可以单测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1051560" y="431596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B7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构造一个 ActorResult 就能单独测 Observer，不必起模型、不必跑前两段。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23620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app/runtime/agent_loop.py · app/runtime/types.py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75B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附录</a:t>
            </a:r>
            <a:pPr indent="0" marL="0">
              <a:buNone/>
            </a:pPr>
            <a:r>
              <a:rPr lang="en-US" sz="1050" dirty="0">
                <a:solidFill>
                  <a:srgbClr val="6B7A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A2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适配层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347472" y="1097280"/>
            <a:ext cx="11494008" cy="3004613"/>
          </a:xfrm>
          <a:prstGeom prst="roundRect">
            <a:avLst>
              <a:gd name="adj" fmla="val 1826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pic>
        <p:nvPicPr>
          <p:cNvPr id="5" name="Image 0" descr="img/4_class_ll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98448"/>
            <a:ext cx="11091672" cy="260227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4403645"/>
            <a:ext cx="3240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75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传输层用 Protocol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677965"/>
            <a:ext cx="3240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B7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HttpxTransport 没有继承任何基类，靠结构匹配满足接口，测试可替换为假实现。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4245864" y="4403645"/>
            <a:ext cx="3240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75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基类给默认实现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4245864" y="4677965"/>
            <a:ext cx="3240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B7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BaseAdapter.stream() 默认调 complete() 包成单块，子类想做 token 级流式再覆写。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7943088" y="4403645"/>
            <a:ext cx="3240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75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注册即接入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7943088" y="4677965"/>
            <a:ext cx="3240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B7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新增一家供应商 = 一个 adapter 文件 + register_openai / register_anthropic 一行。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23620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app/llm/base.py · app/llm/provider_registry.py · app/llm/registry.py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75B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附录</a:t>
            </a:r>
            <a:pPr indent="0" marL="0">
              <a:buNone/>
            </a:pPr>
            <a:r>
              <a:rPr lang="en-US" sz="1050" dirty="0">
                <a:solidFill>
                  <a:srgbClr val="6B7A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A3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工具执行与策略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347472" y="1097280"/>
            <a:ext cx="11494008" cy="3230322"/>
          </a:xfrm>
          <a:prstGeom prst="roundRect">
            <a:avLst>
              <a:gd name="adj" fmla="val 1698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pic>
        <p:nvPicPr>
          <p:cNvPr id="5" name="Image 0" descr="img/5_class_to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98448"/>
            <a:ext cx="11091672" cy="282798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4629354"/>
            <a:ext cx="3240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75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唯一入口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903674"/>
            <a:ext cx="3240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B7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所有工具调用经 ToolGateway.call()，授权、审计、脱敏、截断集中在一处。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4245864" y="4629354"/>
            <a:ext cx="3240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75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规则可插拔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4245864" y="4903674"/>
            <a:ext cx="3240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B7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PolicyRule 分 GlobalRule 与 ToolRule 两类，构造期按类型建索引，运行期不遍历无关规则。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7943088" y="4629354"/>
            <a:ext cx="3240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75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来源无差别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7943088" y="4903674"/>
            <a:ext cx="3240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B7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内置、控制、MCP 三类工具在注册表里是同一种 ToolDefinition。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23620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app/runtime/tool_gateway.py · policy_engine.py · policy_rule.py · app/tools/registry.py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75B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附录</a:t>
            </a:r>
            <a:pPr indent="0" marL="0">
              <a:buNone/>
            </a:pPr>
            <a:r>
              <a:rPr lang="en-US" sz="1050" dirty="0">
                <a:solidFill>
                  <a:srgbClr val="6B7A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A4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工具调用时序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3502152" y="1502236"/>
            <a:ext cx="8330184" cy="4329015"/>
          </a:xfrm>
          <a:prstGeom prst="roundRect">
            <a:avLst>
              <a:gd name="adj" fmla="val 1267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pic>
        <p:nvPicPr>
          <p:cNvPr id="5" name="Image 0" descr="img/2_seq_tool_c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03320" y="1703404"/>
            <a:ext cx="7927848" cy="392667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37160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75B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13716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先授权后执行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051560" y="166420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B7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WhitelistRule 校验工具已注册且 agent 有权限，不通过抛 TOOL_NOT_AUTHORIZED。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69748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75B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1051560" y="26974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两次审计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051560" y="299008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B7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执行前写 RUNNING，执行后写 SUCCEEDED / FAILED，参数经 _redact() 脱敏。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402336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75B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" y="402336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异常不炸循环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1051560" y="431596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B7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异常统一转成 is_error 的 ToolResult 交回模型，超长输出按配置截断。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23620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app/runtime/tool_gateway.py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75B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附录</a:t>
            </a:r>
            <a:pPr indent="0" marL="0">
              <a:buNone/>
            </a:pPr>
            <a:r>
              <a:rPr lang="en-US" sz="1050" dirty="0">
                <a:solidFill>
                  <a:srgbClr val="6B7A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A5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0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Task 状态机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347472" y="1097280"/>
            <a:ext cx="11494008" cy="2902478"/>
          </a:xfrm>
          <a:prstGeom prst="roundRect">
            <a:avLst>
              <a:gd name="adj" fmla="val 1890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pic>
        <p:nvPicPr>
          <p:cNvPr id="5" name="Image 0" descr="img/6_state_ta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98448"/>
            <a:ext cx="11091672" cy="25001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4301510"/>
            <a:ext cx="3240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75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转换表集中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575830"/>
            <a:ext cx="3240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B7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Session / Task / Agent 各一张表，非法转换抛 INVALID_STATE_TRANSITION。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4245864" y="4301510"/>
            <a:ext cx="3240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75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两条回边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4245864" y="4575830"/>
            <a:ext cx="3240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B7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FINISHED → PENDING 是 Observer 复核不通过的 reopen；FAILED → PENDING 是计数内重试。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7943088" y="4301510"/>
            <a:ext cx="3240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75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挂起可恢复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7943088" y="4575830"/>
            <a:ext cx="3240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B7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ask_human 走 SUSPENDED，回答写入 pending_user_answer 后重新入队。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23620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app/domain/state_machine.py · app/tools/control_tools.py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复杂 Agent 系统的工程化代码实践</dc:title>
  <dc:subject>PptxGenJS Presentation</dc:subject>
  <dc:creator>Lin</dc:creator>
  <cp:lastModifiedBy>Lin</cp:lastModifiedBy>
  <cp:revision>1</cp:revision>
  <dcterms:created xsi:type="dcterms:W3CDTF">2026-09-23T07:06:08Z</dcterms:created>
  <dcterms:modified xsi:type="dcterms:W3CDTF">2026-09-23T07:06:08Z</dcterms:modified>
</cp:coreProperties>
</file>